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7" r:id="rId4"/>
  </p:sldMasterIdLst>
  <p:notesMasterIdLst>
    <p:notesMasterId r:id="rId10"/>
  </p:notesMasterIdLst>
  <p:handoutMasterIdLst>
    <p:handoutMasterId r:id="rId11"/>
  </p:handoutMasterIdLst>
  <p:sldIdLst>
    <p:sldId id="317" r:id="rId5"/>
    <p:sldId id="307" r:id="rId6"/>
    <p:sldId id="308" r:id="rId7"/>
    <p:sldId id="278" r:id="rId8"/>
    <p:sldId id="30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D"/>
    <a:srgbClr val="636A58"/>
    <a:srgbClr val="505A47"/>
    <a:srgbClr val="D1D8B7"/>
    <a:srgbClr val="A09D79"/>
    <a:srgbClr val="AD5C4D"/>
    <a:srgbClr val="543E35"/>
    <a:srgbClr val="637700"/>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54" autoAdjust="0"/>
    <p:restoredTop sz="95405" autoAdjust="0"/>
  </p:normalViewPr>
  <p:slideViewPr>
    <p:cSldViewPr snapToGrid="0">
      <p:cViewPr varScale="1">
        <p:scale>
          <a:sx n="91" d="100"/>
          <a:sy n="91" d="100"/>
        </p:scale>
        <p:origin x="413" y="5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8/17/2026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8/17/2026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22673871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5849241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90713513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5974547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75093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8633997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4509A250-FF31-4206-8172-F9D3106AACB1}" type="datetimeFigureOut">
              <a:rPr lang="en-US" smtClean="0"/>
              <a:t>8/17/2026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pPr/>
              <a:t>‹#›</a:t>
            </a:fld>
            <a:endParaRPr lang="en-US" dirty="0"/>
          </a:p>
        </p:txBody>
      </p:sp>
      <p:grpSp>
        <p:nvGrpSpPr>
          <p:cNvPr id="2" name="Group 1">
            <a:extLst>
              <a:ext uri="{FF2B5EF4-FFF2-40B4-BE49-F238E27FC236}">
                <a16:creationId xmlns:a16="http://schemas.microsoft.com/office/drawing/2014/main" id="{26F587BF-0AC5-251E-4936-DA9D7F3EA502}"/>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3" name="Freeform: Shape 2">
              <a:extLst>
                <a:ext uri="{FF2B5EF4-FFF2-40B4-BE49-F238E27FC236}">
                  <a16:creationId xmlns:a16="http://schemas.microsoft.com/office/drawing/2014/main" id="{C2F69314-5A42-CE5F-DFC5-B990759AECE0}"/>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Freeform: Shape 3">
              <a:extLst>
                <a:ext uri="{FF2B5EF4-FFF2-40B4-BE49-F238E27FC236}">
                  <a16:creationId xmlns:a16="http://schemas.microsoft.com/office/drawing/2014/main" id="{8C6FF674-258E-95B3-4823-2857480240C3}"/>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Freeform: Shape 7">
            <a:extLst>
              <a:ext uri="{FF2B5EF4-FFF2-40B4-BE49-F238E27FC236}">
                <a16:creationId xmlns:a16="http://schemas.microsoft.com/office/drawing/2014/main" id="{E4B0FAAA-866A-DA20-23F5-76BE53634969}"/>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823499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0277965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24588898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99144553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5427103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985297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648528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544474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599028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881B468A-803B-0099-3FFF-F47EDF7A05CC}"/>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9853070"/>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676" r:id="rId16"/>
    <p:sldLayoutId id="2147483661" r:id="rId17"/>
    <p:sldLayoutId id="2147483670" r:id="rId18"/>
    <p:sldLayoutId id="2147483678" r:id="rId19"/>
    <p:sldLayoutId id="2147483664" r:id="rId20"/>
    <p:sldLayoutId id="2147483680" r:id="rId21"/>
    <p:sldLayoutId id="2147483681" r:id="rId22"/>
    <p:sldLayoutId id="2147483682" r:id="rId23"/>
    <p:sldLayoutId id="2147483654" r:id="rId24"/>
  </p:sldLayoutIdLst>
  <p:hf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7F80E2-70A7-4EDB-A23E-0E5D7D767C24}"/>
              </a:ext>
            </a:extLst>
          </p:cNvPr>
          <p:cNvSpPr txBox="1"/>
          <p:nvPr/>
        </p:nvSpPr>
        <p:spPr>
          <a:xfrm>
            <a:off x="735106" y="1028092"/>
            <a:ext cx="10721788" cy="954107"/>
          </a:xfrm>
          <a:prstGeom prst="rect">
            <a:avLst/>
          </a:prstGeom>
          <a:noFill/>
        </p:spPr>
        <p:txBody>
          <a:bodyPr wrap="square">
            <a:spAutoFit/>
          </a:bodyPr>
          <a:lstStyle/>
          <a:p>
            <a:pPr algn="ctr"/>
            <a:r>
              <a:rPr lang="en-US" sz="2800" b="1" dirty="0">
                <a:solidFill>
                  <a:srgbClr val="000000"/>
                </a:solidFill>
                <a:latin typeface="Stencil" panose="040409050D0802020404" pitchFamily="82" charset="0"/>
              </a:rPr>
              <a:t>Match Outcome Prediction Using Logistic Regression and Random Forest </a:t>
            </a:r>
            <a:endParaRPr lang="en-IN" sz="4000" b="1" dirty="0">
              <a:latin typeface="Stencil" panose="040409050D0802020404" pitchFamily="82" charset="0"/>
            </a:endParaRPr>
          </a:p>
        </p:txBody>
      </p:sp>
      <p:sp>
        <p:nvSpPr>
          <p:cNvPr id="8" name="TextBox 7">
            <a:extLst>
              <a:ext uri="{FF2B5EF4-FFF2-40B4-BE49-F238E27FC236}">
                <a16:creationId xmlns:a16="http://schemas.microsoft.com/office/drawing/2014/main" id="{C3056539-F719-CA29-41C3-E3F6D655118B}"/>
              </a:ext>
            </a:extLst>
          </p:cNvPr>
          <p:cNvSpPr txBox="1"/>
          <p:nvPr/>
        </p:nvSpPr>
        <p:spPr>
          <a:xfrm>
            <a:off x="3048000" y="4256848"/>
            <a:ext cx="6096000" cy="400110"/>
          </a:xfrm>
          <a:prstGeom prst="rect">
            <a:avLst/>
          </a:prstGeom>
          <a:noFill/>
        </p:spPr>
        <p:txBody>
          <a:bodyPr wrap="square">
            <a:spAutoFit/>
          </a:bodyPr>
          <a:lstStyle/>
          <a:p>
            <a:pPr algn="ctr"/>
            <a:r>
              <a:rPr lang="en-IN" sz="2000" b="0" i="0" dirty="0">
                <a:solidFill>
                  <a:srgbClr val="000000"/>
                </a:solidFill>
                <a:effectLst/>
                <a:latin typeface="+mj-lt"/>
              </a:rPr>
              <a:t>By:</a:t>
            </a:r>
            <a:endParaRPr lang="en-IN" dirty="0"/>
          </a:p>
        </p:txBody>
      </p:sp>
      <p:sp>
        <p:nvSpPr>
          <p:cNvPr id="10" name="TextBox 9">
            <a:extLst>
              <a:ext uri="{FF2B5EF4-FFF2-40B4-BE49-F238E27FC236}">
                <a16:creationId xmlns:a16="http://schemas.microsoft.com/office/drawing/2014/main" id="{53D8C964-29E8-9333-DDC9-0AAB1E31A74D}"/>
              </a:ext>
            </a:extLst>
          </p:cNvPr>
          <p:cNvSpPr txBox="1"/>
          <p:nvPr/>
        </p:nvSpPr>
        <p:spPr>
          <a:xfrm>
            <a:off x="3048000" y="4929008"/>
            <a:ext cx="6096000" cy="660374"/>
          </a:xfrm>
          <a:prstGeom prst="rect">
            <a:avLst/>
          </a:prstGeom>
          <a:noFill/>
        </p:spPr>
        <p:txBody>
          <a:bodyPr wrap="square">
            <a:spAutoFit/>
          </a:bodyPr>
          <a:lstStyle/>
          <a:p>
            <a:pPr marL="0" marR="0" indent="0" algn="ctr" rtl="0" fontAlgn="base">
              <a:lnSpc>
                <a:spcPts val="1538"/>
              </a:lnSpc>
              <a:spcAft>
                <a:spcPts val="1265"/>
              </a:spcAft>
              <a:buNone/>
            </a:pPr>
            <a:r>
              <a:rPr lang="en-IN" i="0" dirty="0">
                <a:solidFill>
                  <a:srgbClr val="000000"/>
                </a:solidFill>
                <a:effectLst/>
                <a:latin typeface="Bahnschrift Light SemiCondensed" panose="020B0502040204020203" pitchFamily="34" charset="0"/>
              </a:rPr>
              <a:t>D.SATVA</a:t>
            </a:r>
            <a:r>
              <a:rPr lang="en-IN" dirty="0">
                <a:solidFill>
                  <a:srgbClr val="000000"/>
                </a:solidFill>
                <a:latin typeface="Bahnschrift Light SemiCondensed" panose="020B0502040204020203" pitchFamily="34" charset="0"/>
              </a:rPr>
              <a:t>RSH</a:t>
            </a:r>
            <a:r>
              <a:rPr lang="en-IN" i="0" dirty="0">
                <a:solidFill>
                  <a:srgbClr val="000000"/>
                </a:solidFill>
                <a:effectLst/>
                <a:latin typeface="Bahnschrift Light SemiCondensed" panose="020B0502040204020203" pitchFamily="34" charset="0"/>
              </a:rPr>
              <a:t>                     2520090080 </a:t>
            </a:r>
            <a:endParaRPr lang="en-IN" sz="1100" i="0" dirty="0">
              <a:solidFill>
                <a:srgbClr val="000000"/>
              </a:solidFill>
              <a:effectLst/>
              <a:latin typeface="Bahnschrift Light SemiCondensed" panose="020B0502040204020203" pitchFamily="34" charset="0"/>
            </a:endParaRPr>
          </a:p>
          <a:p>
            <a:pPr marL="0" marR="0" indent="0" algn="ctr" rtl="0" fontAlgn="base">
              <a:lnSpc>
                <a:spcPts val="1538"/>
              </a:lnSpc>
              <a:spcAft>
                <a:spcPts val="1265"/>
              </a:spcAft>
              <a:buNone/>
            </a:pPr>
            <a:r>
              <a:rPr lang="en-IN" i="0" dirty="0">
                <a:solidFill>
                  <a:srgbClr val="000000"/>
                </a:solidFill>
                <a:effectLst/>
                <a:latin typeface="Bahnschrift Light SemiCondensed" panose="020B0502040204020203" pitchFamily="34" charset="0"/>
              </a:rPr>
              <a:t>P.LAXMAN RAJ TEJA         25200900</a:t>
            </a:r>
            <a:r>
              <a:rPr lang="en-IN" dirty="0">
                <a:solidFill>
                  <a:srgbClr val="000000"/>
                </a:solidFill>
                <a:latin typeface="Bahnschrift Light SemiCondensed" panose="020B0502040204020203" pitchFamily="34" charset="0"/>
              </a:rPr>
              <a:t>64</a:t>
            </a:r>
            <a:endParaRPr lang="en-IN" sz="1100" i="0" dirty="0">
              <a:solidFill>
                <a:srgbClr val="000000"/>
              </a:solidFill>
              <a:effectLst/>
              <a:latin typeface="Bahnschrift Light SemiCondensed" panose="020B0502040204020203" pitchFamily="34" charset="0"/>
            </a:endParaRPr>
          </a:p>
        </p:txBody>
      </p:sp>
      <p:sp>
        <p:nvSpPr>
          <p:cNvPr id="12" name="TextBox 11">
            <a:extLst>
              <a:ext uri="{FF2B5EF4-FFF2-40B4-BE49-F238E27FC236}">
                <a16:creationId xmlns:a16="http://schemas.microsoft.com/office/drawing/2014/main" id="{3EE8B436-8EB1-7FE6-F59B-548131990563}"/>
              </a:ext>
            </a:extLst>
          </p:cNvPr>
          <p:cNvSpPr txBox="1"/>
          <p:nvPr/>
        </p:nvSpPr>
        <p:spPr>
          <a:xfrm>
            <a:off x="3048000" y="3151584"/>
            <a:ext cx="6096000" cy="566822"/>
          </a:xfrm>
          <a:prstGeom prst="rect">
            <a:avLst/>
          </a:prstGeom>
          <a:noFill/>
        </p:spPr>
        <p:txBody>
          <a:bodyPr wrap="square">
            <a:spAutoFit/>
          </a:bodyPr>
          <a:lstStyle/>
          <a:p>
            <a:pPr marL="0" marR="0" indent="0" algn="ctr" rtl="0" fontAlgn="base">
              <a:lnSpc>
                <a:spcPts val="1538"/>
              </a:lnSpc>
              <a:spcAft>
                <a:spcPts val="685"/>
              </a:spcAft>
              <a:buNone/>
            </a:pPr>
            <a:r>
              <a:rPr lang="en-IN" sz="1600" b="0" i="0" dirty="0">
                <a:solidFill>
                  <a:srgbClr val="000000"/>
                </a:solidFill>
                <a:effectLst/>
                <a:latin typeface="+mj-lt"/>
              </a:rPr>
              <a:t>Under the Esteemed guidance of </a:t>
            </a:r>
            <a:endParaRPr lang="en-IN" sz="1050" b="0" i="0" dirty="0">
              <a:solidFill>
                <a:srgbClr val="000000"/>
              </a:solidFill>
              <a:effectLst/>
              <a:latin typeface="+mj-lt"/>
            </a:endParaRPr>
          </a:p>
          <a:p>
            <a:pPr marL="0" marR="0" indent="0" algn="ctr" rtl="0" fontAlgn="base">
              <a:lnSpc>
                <a:spcPts val="1457"/>
              </a:lnSpc>
              <a:spcAft>
                <a:spcPts val="685"/>
              </a:spcAft>
              <a:buNone/>
            </a:pPr>
            <a:r>
              <a:rPr lang="en-IN" sz="1400" b="1" i="0" dirty="0">
                <a:solidFill>
                  <a:srgbClr val="000000"/>
                </a:solidFill>
                <a:effectLst/>
                <a:latin typeface="+mj-lt"/>
              </a:rPr>
              <a:t>Mrs. Chekuri Anitha</a:t>
            </a:r>
            <a:endParaRPr lang="en-IN" sz="1050" b="1" i="0" dirty="0">
              <a:solidFill>
                <a:srgbClr val="000000"/>
              </a:solidFill>
              <a:effectLst/>
              <a:latin typeface="+mj-lt"/>
            </a:endParaRP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62392A4-D974-E96D-8F60-8C9D0BE9C158}"/>
              </a:ext>
            </a:extLst>
          </p:cNvPr>
          <p:cNvSpPr txBox="1"/>
          <p:nvPr/>
        </p:nvSpPr>
        <p:spPr>
          <a:xfrm>
            <a:off x="900953" y="1217002"/>
            <a:ext cx="6104964" cy="400110"/>
          </a:xfrm>
          <a:prstGeom prst="rect">
            <a:avLst/>
          </a:prstGeom>
          <a:noFill/>
        </p:spPr>
        <p:txBody>
          <a:bodyPr wrap="square">
            <a:spAutoFit/>
          </a:bodyPr>
          <a:lstStyle/>
          <a:p>
            <a:r>
              <a:rPr lang="en-IN" sz="2000" b="1" i="0" dirty="0">
                <a:solidFill>
                  <a:srgbClr val="000000"/>
                </a:solidFill>
                <a:effectLst/>
                <a:latin typeface="Times New Roman" panose="02020603050405020304" pitchFamily="18" charset="0"/>
              </a:rPr>
              <a:t>Abstract: </a:t>
            </a:r>
            <a:endParaRPr lang="en-IN" sz="3200" b="1" dirty="0"/>
          </a:p>
        </p:txBody>
      </p:sp>
      <p:sp>
        <p:nvSpPr>
          <p:cNvPr id="11" name="TextBox 10">
            <a:extLst>
              <a:ext uri="{FF2B5EF4-FFF2-40B4-BE49-F238E27FC236}">
                <a16:creationId xmlns:a16="http://schemas.microsoft.com/office/drawing/2014/main" id="{9D894C33-2F3A-B81F-7607-1D7B4F2F6CCF}"/>
              </a:ext>
            </a:extLst>
          </p:cNvPr>
          <p:cNvSpPr txBox="1"/>
          <p:nvPr/>
        </p:nvSpPr>
        <p:spPr>
          <a:xfrm>
            <a:off x="2164976" y="1670680"/>
            <a:ext cx="8852647" cy="5262979"/>
          </a:xfrm>
          <a:prstGeom prst="rect">
            <a:avLst/>
          </a:prstGeom>
          <a:noFill/>
        </p:spPr>
        <p:txBody>
          <a:bodyPr wrap="square">
            <a:spAutoFit/>
          </a:bodyPr>
          <a:lstStyle/>
          <a:p>
            <a:pPr>
              <a:buNone/>
            </a:pPr>
            <a:r>
              <a:rPr lang="en-US" sz="1600" b="1" dirty="0"/>
              <a:t>Match outcome prediction has become an important application of machine learning in modern sports analytics, helping coaches, analysts, teams, and fans make data-driven decisions. This project presents a predictive system that uses Logistic Regression and Random Forest algorithms to forecast the outcome of sports matches based on historical match data and team performance statistics. The dataset includes important features such as team rankings, recent match results, win-loss records, home or away advantage, player performance, head-to-head statistics, and other relevant factors that influence match results. Before training the models, the data is preprocessed by handling missing values, encoding categorical variables, normalizing numerical features, and selecting the most significant attributes to improve prediction accuracy. Logistic Regression serves as a simple and interpretable baseline model for binary classification, while Random Forest, an ensemble learning technique, captures complex relationships among features and reduces overfitting by combining multiple decision trees. The performance of both models is evaluated using metrics such as accuracy, precision, recall, F1-score, and confusion matrix. Experimental results indicate that the Random Forest model generally achieves higher prediction accuracy due to its ability to model nonlinear patterns and interactions between variables, whereas Logistic Regression provides faster training and easier interpretation of feature importance. The proposed system demonstrates how machine learning techniques can effectively analyze historical sports data and generate reliable match outcome predictions. This approach can assist sports organizations, analysts, and enthusiasts in strategic planning, performance evaluation, and decision-making while highlighting the growing impact of artificial intelligence and data analytics in the field of sports</a:t>
            </a:r>
            <a:endParaRPr lang="en-IN" sz="1600" b="1" dirty="0"/>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7E74AA5-5F42-D160-82DE-11E343BF4076}"/>
              </a:ext>
            </a:extLst>
          </p:cNvPr>
          <p:cNvSpPr txBox="1"/>
          <p:nvPr/>
        </p:nvSpPr>
        <p:spPr>
          <a:xfrm>
            <a:off x="900953" y="1217002"/>
            <a:ext cx="6104964" cy="369332"/>
          </a:xfrm>
          <a:prstGeom prst="rect">
            <a:avLst/>
          </a:prstGeom>
          <a:noFill/>
        </p:spPr>
        <p:txBody>
          <a:bodyPr wrap="square">
            <a:spAutoFit/>
          </a:bodyPr>
          <a:lstStyle/>
          <a:p>
            <a:r>
              <a:rPr lang="en-IN" b="1" dirty="0">
                <a:solidFill>
                  <a:schemeClr val="bg2">
                    <a:lumMod val="10000"/>
                  </a:schemeClr>
                </a:solidFill>
                <a:latin typeface="Times New Roman" panose="02020603050405020304" pitchFamily="18" charset="0"/>
                <a:cs typeface="Times New Roman" panose="02020603050405020304" pitchFamily="18" charset="0"/>
              </a:rPr>
              <a:t>INTRODUCTION</a:t>
            </a:r>
            <a:r>
              <a:rPr lang="en-IN" b="1" dirty="0">
                <a:solidFill>
                  <a:schemeClr val="bg2">
                    <a:lumMod val="10000"/>
                  </a:schemeClr>
                </a:solidFill>
              </a:rPr>
              <a:t>:</a:t>
            </a:r>
            <a:r>
              <a:rPr lang="en-IN" dirty="0">
                <a:solidFill>
                  <a:schemeClr val="bg2">
                    <a:lumMod val="10000"/>
                  </a:schemeClr>
                </a:solidFill>
              </a:rPr>
              <a:t> </a:t>
            </a:r>
            <a:endParaRPr lang="en-IN" sz="3200" b="1" dirty="0">
              <a:solidFill>
                <a:schemeClr val="bg2">
                  <a:lumMod val="10000"/>
                </a:schemeClr>
              </a:solidFill>
            </a:endParaRPr>
          </a:p>
        </p:txBody>
      </p:sp>
      <p:sp>
        <p:nvSpPr>
          <p:cNvPr id="11" name="TextBox 10">
            <a:extLst>
              <a:ext uri="{FF2B5EF4-FFF2-40B4-BE49-F238E27FC236}">
                <a16:creationId xmlns:a16="http://schemas.microsoft.com/office/drawing/2014/main" id="{6C14FE39-E71D-6EB5-7A22-33BD3DF8D9F9}"/>
              </a:ext>
            </a:extLst>
          </p:cNvPr>
          <p:cNvSpPr txBox="1"/>
          <p:nvPr/>
        </p:nvSpPr>
        <p:spPr>
          <a:xfrm>
            <a:off x="2164976" y="1670680"/>
            <a:ext cx="8852647" cy="5262979"/>
          </a:xfrm>
          <a:prstGeom prst="rect">
            <a:avLst/>
          </a:prstGeom>
          <a:noFill/>
        </p:spPr>
        <p:txBody>
          <a:bodyPr wrap="square">
            <a:spAutoFit/>
          </a:bodyPr>
          <a:lstStyle/>
          <a:p>
            <a:r>
              <a:rPr lang="en-US" sz="1600" dirty="0"/>
              <a:t>The rapid growth of data analytics and machine learning has transformed the way sports are analyzed and understood. Today, sports organizations, coaches, analysts, and fans rely on data-driven insights to evaluate team performance, develop strategies, and predict match outcomes. Match outcome prediction is one of the most important applications of sports analytics, as it helps improve decision-making by identifying patterns and trends from historical match data. Machine learning algorithms are capable of analyzing large volumes of data and discovering relationships that are difficult to identify through traditional statistical methods. By using historical match records, team rankings, player statistics, recent performance, head-to-head results, home or away advantage, and other influential factors, predictive models can estimate the probability of a team winning or losing a match with considerable accuracy. This project focuses on predicting match outcomes using two popular supervised machine learning algorithms: Logistic Regression and Random Forest. Logistic Regression is a simple yet effective classification algorithm that provides interpretable predictions and serves as a strong baseline model. In contrast, Random Forest is an ensemble learning technique that combines multiple decision trees to improve prediction accuracy and reduce overfitting by capturing complex relationships within the data. The project involves collecting and preprocessing historical match data, selecting relevant features, training both machine learning models, and evaluating their performance using metrics such as accuracy, precision, recall, F1score, and confusion matrix. The comparison of these models helps determine which algorithm is more suitable for predicting sports match outcomes. The proposed system demonstrates how artificial intelligence and machine learning can be effectively applied in sports analytics to provide reliable predictions. The findings of this project can support coaches, sports analysts, </a:t>
            </a:r>
            <a:endParaRPr lang="en-IN" sz="1600" dirty="0"/>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BE30A01-DE7A-8140-4935-FFF68A3F5B5D}"/>
              </a:ext>
            </a:extLst>
          </p:cNvPr>
          <p:cNvSpPr txBox="1"/>
          <p:nvPr/>
        </p:nvSpPr>
        <p:spPr>
          <a:xfrm>
            <a:off x="936812" y="977995"/>
            <a:ext cx="6104964" cy="400110"/>
          </a:xfrm>
          <a:prstGeom prst="rect">
            <a:avLst/>
          </a:prstGeom>
          <a:noFill/>
        </p:spPr>
        <p:txBody>
          <a:bodyPr wrap="square">
            <a:spAutoFit/>
          </a:bodyPr>
          <a:lstStyle/>
          <a:p>
            <a:r>
              <a:rPr lang="en-IN" sz="2000" b="1" dirty="0">
                <a:solidFill>
                  <a:schemeClr val="bg2">
                    <a:lumMod val="10000"/>
                  </a:schemeClr>
                </a:solidFill>
                <a:latin typeface="Times New Roman" panose="02020603050405020304" pitchFamily="18" charset="0"/>
                <a:cs typeface="Times New Roman" panose="02020603050405020304" pitchFamily="18" charset="0"/>
              </a:rPr>
              <a:t>Software Requirements:</a:t>
            </a:r>
            <a:endParaRPr lang="en-IN" sz="36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8AB84BA-0F2F-7B00-BCD8-A5D1919D8A4D}"/>
              </a:ext>
            </a:extLst>
          </p:cNvPr>
          <p:cNvSpPr txBox="1"/>
          <p:nvPr/>
        </p:nvSpPr>
        <p:spPr>
          <a:xfrm>
            <a:off x="2205318" y="1569294"/>
            <a:ext cx="6113928" cy="1477328"/>
          </a:xfrm>
          <a:prstGeom prst="rect">
            <a:avLst/>
          </a:prstGeom>
          <a:noFill/>
        </p:spPr>
        <p:txBody>
          <a:bodyPr wrap="square">
            <a:spAutoFit/>
          </a:bodyPr>
          <a:lstStyle/>
          <a:p>
            <a:pPr marL="342900" lvl="0" indent="-342900">
              <a:buFont typeface="Arial" panose="020B0604020202020204" pitchFamily="34" charset="0"/>
              <a:buChar char="•"/>
            </a:pPr>
            <a:r>
              <a:rPr lang="en-IN" b="1" dirty="0"/>
              <a:t>Programming Language:</a:t>
            </a:r>
            <a:r>
              <a:rPr lang="en-IN" dirty="0"/>
              <a:t> Python 3.10 or later. </a:t>
            </a:r>
          </a:p>
          <a:p>
            <a:pPr marL="342900" lvl="0" indent="-342900">
              <a:buFont typeface="Arial" panose="020B0604020202020204" pitchFamily="34" charset="0"/>
              <a:buChar char="•"/>
            </a:pPr>
            <a:r>
              <a:rPr lang="en-IN" b="1" dirty="0"/>
              <a:t>Development Environment:</a:t>
            </a:r>
            <a:r>
              <a:rPr lang="en-IN" dirty="0"/>
              <a:t> Google </a:t>
            </a:r>
            <a:r>
              <a:rPr lang="en-IN" dirty="0" err="1"/>
              <a:t>Colab</a:t>
            </a:r>
            <a:r>
              <a:rPr lang="en-IN" dirty="0"/>
              <a:t>, or VS Code. </a:t>
            </a:r>
          </a:p>
          <a:p>
            <a:pPr marL="342900" lvl="0" indent="-342900">
              <a:buFont typeface="Arial" panose="020B0604020202020204" pitchFamily="34" charset="0"/>
              <a:buChar char="•"/>
            </a:pPr>
            <a:r>
              <a:rPr lang="en-IN" b="1" dirty="0"/>
              <a:t>Libraries:</a:t>
            </a:r>
            <a:r>
              <a:rPr lang="en-IN" dirty="0"/>
              <a:t> NumPy, Pandas, Matplotlib, Seaborn, and Scikit-learn. </a:t>
            </a:r>
          </a:p>
          <a:p>
            <a:pPr marL="342900" lvl="0" indent="-342900">
              <a:buFont typeface="Arial" panose="020B0604020202020204" pitchFamily="34" charset="0"/>
              <a:buChar char="•"/>
            </a:pPr>
            <a:r>
              <a:rPr lang="en-IN" b="1" dirty="0"/>
              <a:t>Dataset:</a:t>
            </a:r>
            <a:r>
              <a:rPr lang="en-IN" dirty="0"/>
              <a:t> Wine Quality Dataset in CSV format. </a:t>
            </a:r>
          </a:p>
          <a:p>
            <a:pPr marL="342900" lvl="0" indent="-342900">
              <a:buFont typeface="Arial" panose="020B0604020202020204" pitchFamily="34" charset="0"/>
              <a:buChar char="•"/>
            </a:pPr>
            <a:r>
              <a:rPr lang="en-IN" b="1" dirty="0"/>
              <a:t>Operating System:</a:t>
            </a:r>
            <a:r>
              <a:rPr lang="en-IN" dirty="0"/>
              <a:t> Windows, Linux, or macOS.</a:t>
            </a:r>
          </a:p>
        </p:txBody>
      </p:sp>
      <p:sp>
        <p:nvSpPr>
          <p:cNvPr id="16" name="TextBox 15">
            <a:extLst>
              <a:ext uri="{FF2B5EF4-FFF2-40B4-BE49-F238E27FC236}">
                <a16:creationId xmlns:a16="http://schemas.microsoft.com/office/drawing/2014/main" id="{E5352CAF-3993-D8CB-9AA6-01ECAF94ADD0}"/>
              </a:ext>
            </a:extLst>
          </p:cNvPr>
          <p:cNvSpPr txBox="1"/>
          <p:nvPr/>
        </p:nvSpPr>
        <p:spPr>
          <a:xfrm>
            <a:off x="936812" y="3429000"/>
            <a:ext cx="6104964" cy="400110"/>
          </a:xfrm>
          <a:prstGeom prst="rect">
            <a:avLst/>
          </a:prstGeom>
          <a:noFill/>
        </p:spPr>
        <p:txBody>
          <a:bodyPr wrap="square">
            <a:spAutoFit/>
          </a:bodyPr>
          <a:lstStyle/>
          <a:p>
            <a:r>
              <a:rPr lang="en-IN" sz="2000" b="1" dirty="0">
                <a:solidFill>
                  <a:schemeClr val="bg2">
                    <a:lumMod val="10000"/>
                  </a:schemeClr>
                </a:solidFill>
                <a:latin typeface="Times New Roman" panose="02020603050405020304" pitchFamily="18" charset="0"/>
                <a:cs typeface="Times New Roman" panose="02020603050405020304" pitchFamily="18" charset="0"/>
              </a:rPr>
              <a:t>Hardware Requirements:</a:t>
            </a:r>
            <a:endParaRPr lang="en-IN" sz="3600" b="1" dirty="0">
              <a:solidFill>
                <a:schemeClr val="bg2">
                  <a:lumMod val="10000"/>
                </a:schemeClr>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B27D6448-03DB-7405-6E39-7091377BCF9E}"/>
              </a:ext>
            </a:extLst>
          </p:cNvPr>
          <p:cNvSpPr txBox="1"/>
          <p:nvPr/>
        </p:nvSpPr>
        <p:spPr>
          <a:xfrm>
            <a:off x="2205318" y="4088377"/>
            <a:ext cx="6113928" cy="1200329"/>
          </a:xfrm>
          <a:prstGeom prst="rect">
            <a:avLst/>
          </a:prstGeom>
          <a:noFill/>
        </p:spPr>
        <p:txBody>
          <a:bodyPr wrap="square">
            <a:spAutoFit/>
          </a:bodyPr>
          <a:lstStyle/>
          <a:p>
            <a:pPr marL="285750" lvl="0" indent="-285750">
              <a:buFont typeface="Arial" panose="020B0604020202020204" pitchFamily="34" charset="0"/>
              <a:buChar char="•"/>
            </a:pPr>
            <a:r>
              <a:rPr lang="en-IN" b="1" dirty="0"/>
              <a:t>Processor:</a:t>
            </a:r>
            <a:r>
              <a:rPr lang="en-IN" dirty="0"/>
              <a:t> Intel Core i3 or equivalent. </a:t>
            </a:r>
          </a:p>
          <a:p>
            <a:pPr marL="285750" lvl="0" indent="-285750">
              <a:buFont typeface="Arial" panose="020B0604020202020204" pitchFamily="34" charset="0"/>
              <a:buChar char="•"/>
            </a:pPr>
            <a:r>
              <a:rPr lang="en-IN" b="1" dirty="0"/>
              <a:t>RAM:</a:t>
            </a:r>
            <a:r>
              <a:rPr lang="en-IN" dirty="0"/>
              <a:t> Minimum 4 GB. </a:t>
            </a:r>
          </a:p>
          <a:p>
            <a:pPr marL="285750" lvl="0" indent="-285750">
              <a:buFont typeface="Arial" panose="020B0604020202020204" pitchFamily="34" charset="0"/>
              <a:buChar char="•"/>
            </a:pPr>
            <a:r>
              <a:rPr lang="en-IN" b="1" dirty="0"/>
              <a:t>Storage:</a:t>
            </a:r>
            <a:r>
              <a:rPr lang="en-IN" dirty="0"/>
              <a:t> At least 10 GB free space. </a:t>
            </a:r>
          </a:p>
          <a:p>
            <a:pPr marL="285750" lvl="0" indent="-285750">
              <a:buFont typeface="Arial" panose="020B0604020202020204" pitchFamily="34" charset="0"/>
              <a:buChar char="•"/>
            </a:pPr>
            <a:r>
              <a:rPr lang="en-IN" b="1" dirty="0"/>
              <a:t>System:</a:t>
            </a:r>
            <a:r>
              <a:rPr lang="en-IN" dirty="0"/>
              <a:t> Laptop/Desktop with a stable internet connection. </a:t>
            </a:r>
          </a:p>
        </p:txBody>
      </p:sp>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3275076" y="914400"/>
            <a:ext cx="5641848" cy="5029200"/>
          </a:xfrm>
        </p:spPr>
        <p:txBody>
          <a:bodyPr/>
          <a:lstStyle/>
          <a:p>
            <a:pPr algn="ctr"/>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TM03457475[[fn=Frame]]</Template>
  <TotalTime>43</TotalTime>
  <Words>728</Words>
  <Application>Microsoft Office PowerPoint</Application>
  <PresentationFormat>Widescreen</PresentationFormat>
  <Paragraphs>27</Paragraphs>
  <Slides>5</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Arial</vt:lpstr>
      <vt:lpstr>Bahnschrift Light SemiCondensed</vt:lpstr>
      <vt:lpstr>Calibri</vt:lpstr>
      <vt:lpstr>Corbel</vt:lpstr>
      <vt:lpstr>Courier New</vt:lpstr>
      <vt:lpstr>Sagona Book</vt:lpstr>
      <vt:lpstr>Stencil</vt:lpstr>
      <vt:lpstr>Times New Roman</vt:lpstr>
      <vt:lpstr>Wingdings 2</vt:lpstr>
      <vt:lpstr>Frame</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Shashank Bangale</dc:creator>
  <cp:lastModifiedBy>Laxman raj teja Puram</cp:lastModifiedBy>
  <cp:revision>3</cp:revision>
  <dcterms:created xsi:type="dcterms:W3CDTF">2026-08-14T04:31:29Z</dcterms:created>
  <dcterms:modified xsi:type="dcterms:W3CDTF">2026-08-17T03:33:39Z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